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A8604D-E6EF-4521-962B-34A75007956E}">
  <a:tblStyle styleId="{C5A8604D-E6EF-4521-962B-34A75007956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058f16832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058f16832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8058f16832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058f1683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058f1683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8058f1683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058f16832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8058f16832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8058f16832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060ffa06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060ffa06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8060ffa06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" name="Google Shape;22;p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drive/folders/1lNEO54utMDk1JZJ8vcd9_WLdyFGZMs_x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 rot="-2760812">
            <a:off x="10108693" y="5785487"/>
            <a:ext cx="2825307" cy="62407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 rot="5400000">
            <a:off x="-94797" y="5681781"/>
            <a:ext cx="1335024" cy="1145429"/>
          </a:xfrm>
          <a:prstGeom prst="triangle">
            <a:avLst>
              <a:gd fmla="val 50000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6567777"/>
            <a:ext cx="12192000" cy="322028"/>
          </a:xfrm>
          <a:prstGeom prst="rect">
            <a:avLst/>
          </a:prstGeom>
          <a:solidFill>
            <a:srgbClr val="17A8F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329184" y="2542032"/>
            <a:ext cx="5684520" cy="3794760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6178296" y="2542032"/>
            <a:ext cx="5684520" cy="3794760"/>
          </a:xfrm>
          <a:prstGeom prst="rect">
            <a:avLst/>
          </a:prstGeom>
          <a:solidFill>
            <a:srgbClr val="F7CAAC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13"/>
          <p:cNvGraphicFramePr/>
          <p:nvPr/>
        </p:nvGraphicFramePr>
        <p:xfrm>
          <a:off x="329184" y="19119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{C5A8604D-E6EF-4521-962B-34A75007956E}</a:tableStyleId>
              </a:tblPr>
              <a:tblGrid>
                <a:gridCol w="2770625"/>
              </a:tblGrid>
              <a:tr h="45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Sairaj Magdum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Google Shape;94;p13"/>
          <p:cNvGraphicFramePr/>
          <p:nvPr/>
        </p:nvGraphicFramePr>
        <p:xfrm>
          <a:off x="3171444" y="19119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{C5A8604D-E6EF-4521-962B-34A75007956E}</a:tableStyleId>
              </a:tblPr>
              <a:tblGrid>
                <a:gridCol w="2842250"/>
              </a:tblGrid>
              <a:tr h="45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Kedar Kolase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Google Shape;95;p13"/>
          <p:cNvGraphicFramePr/>
          <p:nvPr/>
        </p:nvGraphicFramePr>
        <p:xfrm>
          <a:off x="6178296" y="19119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{C5A8604D-E6EF-4521-962B-34A75007956E}</a:tableStyleId>
              </a:tblPr>
              <a:tblGrid>
                <a:gridCol w="2759975"/>
              </a:tblGrid>
              <a:tr h="45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Dattaraj Jadhav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" name="Google Shape;96;p13"/>
          <p:cNvGraphicFramePr/>
          <p:nvPr/>
        </p:nvGraphicFramePr>
        <p:xfrm>
          <a:off x="9020556" y="19119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{C5A8604D-E6EF-4521-962B-34A75007956E}</a:tableStyleId>
              </a:tblPr>
              <a:tblGrid>
                <a:gridCol w="2842250"/>
              </a:tblGrid>
              <a:tr h="45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Anurag Mhaske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13"/>
          <p:cNvSpPr txBox="1"/>
          <p:nvPr/>
        </p:nvSpPr>
        <p:spPr>
          <a:xfrm>
            <a:off x="329184" y="1038408"/>
            <a:ext cx="1153363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:-Intelligent Crop Health Advisor with Disease Diagnosis and Text/Voice     			                   Chatbot Integration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1485900" y="1507421"/>
            <a:ext cx="457200" cy="451244"/>
          </a:xfrm>
          <a:prstGeom prst="flowChartConnector">
            <a:avLst/>
          </a:prstGeom>
          <a:solidFill>
            <a:schemeClr val="accent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4363974" y="1507421"/>
            <a:ext cx="457200" cy="451244"/>
          </a:xfrm>
          <a:prstGeom prst="flowChartConnector">
            <a:avLst/>
          </a:prstGeom>
          <a:solidFill>
            <a:schemeClr val="accent6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7327392" y="1489951"/>
            <a:ext cx="457200" cy="451244"/>
          </a:xfrm>
          <a:prstGeom prst="flowChartConnector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10213086" y="1503922"/>
            <a:ext cx="457200" cy="451244"/>
          </a:xfrm>
          <a:prstGeom prst="flowChartConnector">
            <a:avLst/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1943100" y="2594145"/>
            <a:ext cx="2420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7727822" y="2651889"/>
            <a:ext cx="29424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573150" y="3037301"/>
            <a:ext cx="53766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Identifies Sugarcane Health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Classifies sugarcane leaves from images using a dedicated deep learning model.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Diagnoses Sugarcane Diseases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Detects and classifies sugarcane diseases (e.g., red rot, white leaf) for accurate health assessments.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Actionable Advice: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Employs a local Hugging Face LLM to deliver tailored crop care, treatment plans, and agricultural advice specifically for sugarcane farmers.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Chatbot: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Integrates a multilingual text/voice chatbot to deliver diagnosis results and recommendations, enhancing accessibility for rural sugarcane growers.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6219444" y="2963477"/>
            <a:ext cx="5643372" cy="3877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Agricultural Productivity: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crop losses through early disease detection, enhancing farm output.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Crop and Disease Identification: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Separate DL models ensure precise crop and disease identification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User-Friendly Interface: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Multilingual text/voice chatbot simplifies interaction.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Promotes Sustainability: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Minimizes pesticide overuse via precise treatments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Provides multilingual text/voice chatbot support, making agricultural expertise accessible to non-technical and non-English-speaking farmers.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 rot="-5400000">
            <a:off x="10469858" y="-165123"/>
            <a:ext cx="2311046" cy="1133238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/>
          <p:nvPr/>
        </p:nvSpPr>
        <p:spPr>
          <a:xfrm>
            <a:off x="225647" y="41421"/>
            <a:ext cx="4398264" cy="1167247"/>
          </a:xfrm>
          <a:prstGeom prst="roundRect">
            <a:avLst>
              <a:gd fmla="val 16667" name="adj"/>
            </a:avLst>
          </a:prstGeom>
          <a:solidFill>
            <a:srgbClr val="AEABAB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>
            <p:ph type="title"/>
          </p:nvPr>
        </p:nvSpPr>
        <p:spPr>
          <a:xfrm>
            <a:off x="225647" y="124082"/>
            <a:ext cx="4466908" cy="9479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Explaining Problem statement :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Intelligent Crop Health Advisor with Disease Diagnosis and Text/Voice Chatbot Integration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4"/>
          <p:cNvSpPr/>
          <p:nvPr/>
        </p:nvSpPr>
        <p:spPr>
          <a:xfrm rot="-2760812">
            <a:off x="10108693" y="5785487"/>
            <a:ext cx="2825307" cy="62407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 rot="5400000">
            <a:off x="-94797" y="5681781"/>
            <a:ext cx="1335024" cy="1145429"/>
          </a:xfrm>
          <a:prstGeom prst="triangle">
            <a:avLst>
              <a:gd fmla="val 50000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 rot="-5400000">
            <a:off x="10469858" y="-165123"/>
            <a:ext cx="2311046" cy="1133238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>
            <p:ph idx="2" type="body"/>
          </p:nvPr>
        </p:nvSpPr>
        <p:spPr>
          <a:xfrm>
            <a:off x="225647" y="1329001"/>
            <a:ext cx="4673632" cy="6001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1.Identifying Crops and Diseases: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Lack of expertise/tools to detect crop types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and diseases early.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1800"/>
              <a:t>Accessing Expert Advice: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     </a:t>
            </a:r>
            <a:r>
              <a:rPr lang="en-US" sz="1800"/>
              <a:t>Limited availability of tailored, affordable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agricultural guidance.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3. Multilingual Text/Voice Chatbot: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Supports user-friendly text and voice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interactions in multiple languages, enhancing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accessibility for rural and non-technical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farmers.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4. A fine-tuned local LLM for generating actionable advice.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5.</a:t>
            </a:r>
            <a:r>
              <a:rPr lang="en-US" sz="1800"/>
              <a:t> </a:t>
            </a:r>
            <a:r>
              <a:rPr b="1" lang="en-US" sz="1800"/>
              <a:t>Voice Chatbot Considerations: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    </a:t>
            </a:r>
            <a:r>
              <a:rPr lang="en-US" sz="1800"/>
              <a:t>Ensure STT/TTS models support local accents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and languages for accessibility.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4899279" y="-16318"/>
            <a:ext cx="116554" cy="687431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0" y="6567777"/>
            <a:ext cx="12192000" cy="322028"/>
          </a:xfrm>
          <a:prstGeom prst="rect">
            <a:avLst/>
          </a:prstGeom>
          <a:solidFill>
            <a:srgbClr val="17A8F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14"/>
          <p:cNvCxnSpPr/>
          <p:nvPr/>
        </p:nvCxnSpPr>
        <p:spPr>
          <a:xfrm>
            <a:off x="391287" y="1236432"/>
            <a:ext cx="450799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" name="Google Shape;120;p14"/>
          <p:cNvSpPr/>
          <p:nvPr/>
        </p:nvSpPr>
        <p:spPr>
          <a:xfrm>
            <a:off x="6944257" y="41421"/>
            <a:ext cx="3283409" cy="534651"/>
          </a:xfrm>
          <a:prstGeom prst="ellipse">
            <a:avLst/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7497517" y="124080"/>
            <a:ext cx="22866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5385816" y="5525201"/>
            <a:ext cx="533095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diagram shows the architecture and processing of the entire product and Amenities it provides</a:t>
            </a:r>
            <a:endParaRPr/>
          </a:p>
        </p:txBody>
      </p:sp>
      <p:pic>
        <p:nvPicPr>
          <p:cNvPr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1202" y="671602"/>
            <a:ext cx="6093079" cy="4834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 rot="-2760812">
            <a:off x="10108693" y="5785487"/>
            <a:ext cx="2825307" cy="62407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 rot="5400000">
            <a:off x="-94797" y="5681781"/>
            <a:ext cx="1335024" cy="1145429"/>
          </a:xfrm>
          <a:prstGeom prst="triangle">
            <a:avLst>
              <a:gd fmla="val 50000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 rot="-5400000">
            <a:off x="10469858" y="-165123"/>
            <a:ext cx="2311046" cy="1133238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0" y="6567777"/>
            <a:ext cx="12192000" cy="322028"/>
          </a:xfrm>
          <a:prstGeom prst="rect">
            <a:avLst/>
          </a:prstGeom>
          <a:solidFill>
            <a:srgbClr val="17A8F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234791" y="189115"/>
            <a:ext cx="2965609" cy="424762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234791" y="868680"/>
            <a:ext cx="5644801" cy="2450592"/>
          </a:xfrm>
          <a:prstGeom prst="rect">
            <a:avLst/>
          </a:prstGeom>
          <a:solidFill>
            <a:srgbClr val="D5DBE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5980580" y="868680"/>
            <a:ext cx="5644801" cy="2450592"/>
          </a:xfrm>
          <a:prstGeom prst="rect">
            <a:avLst/>
          </a:prstGeom>
          <a:solidFill>
            <a:srgbClr val="D5DBE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234790" y="3602735"/>
            <a:ext cx="5644801" cy="2450592"/>
          </a:xfrm>
          <a:prstGeom prst="rect">
            <a:avLst/>
          </a:prstGeom>
          <a:solidFill>
            <a:srgbClr val="D8E2F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6114381" y="3580228"/>
            <a:ext cx="5644801" cy="2450592"/>
          </a:xfrm>
          <a:prstGeom prst="rect">
            <a:avLst/>
          </a:prstGeom>
          <a:solidFill>
            <a:srgbClr val="D8E2F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1539381" y="868680"/>
            <a:ext cx="2965609" cy="4247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on Methodology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7453976" y="868680"/>
            <a:ext cx="2965609" cy="4247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on Datasets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1539382" y="3602735"/>
            <a:ext cx="2965609" cy="4247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on Gaps 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7435595" y="3602735"/>
            <a:ext cx="2965609" cy="424762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on Results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5483031" y="3009518"/>
            <a:ext cx="487680" cy="55923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032764" y="3023641"/>
            <a:ext cx="487680" cy="559236"/>
          </a:xfrm>
          <a:prstGeom prst="bentArrow">
            <a:avLst>
              <a:gd fmla="val 25000" name="adj1"/>
              <a:gd fmla="val 22188" name="adj2"/>
              <a:gd fmla="val 25000" name="adj3"/>
              <a:gd fmla="val 43750" name="adj4"/>
            </a:avLst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 rot="-5400000">
            <a:off x="5464335" y="3285562"/>
            <a:ext cx="487680" cy="55923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023571" y="3023641"/>
            <a:ext cx="487680" cy="559236"/>
          </a:xfrm>
          <a:prstGeom prst="bentArrow">
            <a:avLst>
              <a:gd fmla="val 25000" name="adj1"/>
              <a:gd fmla="val 22188" name="adj2"/>
              <a:gd fmla="val 25000" name="adj3"/>
              <a:gd fmla="val 43750" name="adj4"/>
            </a:avLst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 rot="10800000">
            <a:off x="6006179" y="3306716"/>
            <a:ext cx="487680" cy="55923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4504989" y="2732218"/>
            <a:ext cx="2965609" cy="1401936"/>
          </a:xfrm>
          <a:prstGeom prst="mathPlus">
            <a:avLst>
              <a:gd fmla="val 23520" name="adj1"/>
            </a:avLst>
          </a:prstGeom>
          <a:solidFill>
            <a:srgbClr val="DBDBDB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325910" y="1352674"/>
            <a:ext cx="5241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Crop Identification: EfficiencyNet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Disease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Diagnosis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EfficiencyNet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Recommendations: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Ollama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Text/Voice Chatbot: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Hugging Face pipeline with Whisper (STT) and VITS (TTS).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325910" y="4031402"/>
            <a:ext cx="554440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Crop Identification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Limited dataset; use custom regional data, optimize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EfficiencyNet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Disease Diagnosis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Lacks local diseases; collect custom data, balance classes.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Limited agricultural knowledge; fine-tune TinyLLaMA, add safety filters.Local language support.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6192812" y="493871"/>
            <a:ext cx="5432569" cy="3139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Crop Identification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custom local crop datasets for training.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Disease Diagnosis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custom datasets (&gt; 1000 images )for local diseases.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Chatbot: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dialogue; Common Voice for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multilingual STT/TTS training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6262767" y="4031402"/>
            <a:ext cx="5501847" cy="25853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Crop Identification: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≥80% accuracy, ≤1s inference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Disease Diagnosis: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≥85% F1-score, high recall for early-stage diseases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Recommendations: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≥80% user satisfaction, safe and relevant advice, ≤2s response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Chatbot: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≥85% intent accuracy, WER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5080241" y="3244334"/>
            <a:ext cx="2031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Text/Voice Chatbot: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225647" y="99163"/>
            <a:ext cx="4398264" cy="1167247"/>
          </a:xfrm>
          <a:prstGeom prst="roundRect">
            <a:avLst>
              <a:gd fmla="val 16667" name="adj"/>
            </a:avLst>
          </a:prstGeom>
          <a:solidFill>
            <a:srgbClr val="AEABAB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>
            <p:ph type="title"/>
          </p:nvPr>
        </p:nvSpPr>
        <p:spPr>
          <a:xfrm>
            <a:off x="572715" y="151640"/>
            <a:ext cx="4466908" cy="10622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 rot="-2760812">
            <a:off x="10108693" y="5785487"/>
            <a:ext cx="2825307" cy="62407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 rot="5400000">
            <a:off x="-94797" y="5681781"/>
            <a:ext cx="1335024" cy="1145429"/>
          </a:xfrm>
          <a:prstGeom prst="triangle">
            <a:avLst>
              <a:gd fmla="val 50000" name="adj"/>
            </a:avLst>
          </a:prstGeom>
          <a:solidFill>
            <a:srgbClr val="7030A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 rot="-5400000">
            <a:off x="10469858" y="-165123"/>
            <a:ext cx="2311046" cy="1133238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0" y="6567777"/>
            <a:ext cx="12192000" cy="322028"/>
          </a:xfrm>
          <a:prstGeom prst="rect">
            <a:avLst/>
          </a:prstGeom>
          <a:solidFill>
            <a:srgbClr val="17A8F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16"/>
          <p:cNvCxnSpPr/>
          <p:nvPr/>
        </p:nvCxnSpPr>
        <p:spPr>
          <a:xfrm>
            <a:off x="125063" y="1424430"/>
            <a:ext cx="553507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16"/>
          <p:cNvSpPr/>
          <p:nvPr/>
        </p:nvSpPr>
        <p:spPr>
          <a:xfrm>
            <a:off x="6196586" y="1327024"/>
            <a:ext cx="551688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Stack Overview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Deep Learning (Crop Disease Diagnosis)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TensorFlow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EfficientNetB0-based CNN model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Processing: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Pillow, OpenCV, NumPy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Local LLM Integration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Ollama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Gemma 3 (local deployment)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Optimization: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Quantization for efficient local inference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Tasks: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Text generation &amp; classification for disease advice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5219124" y="2614314"/>
            <a:ext cx="5039623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6196575" y="4158650"/>
            <a:ext cx="7086600" cy="25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Web Interface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Gradio 3.41.2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image upload, responsive design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Data Management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Structured Storage: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JSON-based knowledge base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Processing: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Python standard libraries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125063" y="1557019"/>
            <a:ext cx="5870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is a sugarcane disease detection system that uses a CNN model (EfficientNetB0-based) for image analysis and a local LLM (Gemma 3) for generating advice. Built with TensorFlow and Gradio, it offers a simple web interface for farmers to identify diseases and get management tips. The system runs offline, includes a knowledge base for reliable information, and provides responses in multiple languages.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465125" y="3940375"/>
            <a:ext cx="28674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 Dataset: </a:t>
            </a:r>
            <a:r>
              <a:rPr lang="en-US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Link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131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3800" y="1110850"/>
            <a:ext cx="1703200" cy="19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325" y="3022800"/>
            <a:ext cx="2720801" cy="16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85650" y="1622375"/>
            <a:ext cx="4130251" cy="11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70950" y="2505738"/>
            <a:ext cx="2720800" cy="272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58425" y="3617500"/>
            <a:ext cx="2720800" cy="938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62325" y="918176"/>
            <a:ext cx="2512998" cy="2512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138625" y="103175"/>
            <a:ext cx="3932100" cy="565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</a:t>
            </a:r>
            <a:endParaRPr/>
          </a:p>
        </p:txBody>
      </p:sp>
      <p:pic>
        <p:nvPicPr>
          <p:cNvPr id="186" name="Google Shape;186;p18"/>
          <p:cNvPicPr preferRelativeResize="0"/>
          <p:nvPr/>
        </p:nvPicPr>
        <p:blipFill rotWithShape="1">
          <a:blip r:embed="rId3">
            <a:alphaModFix/>
          </a:blip>
          <a:srcRect b="45393" l="0" r="0" t="0"/>
          <a:stretch/>
        </p:blipFill>
        <p:spPr>
          <a:xfrm>
            <a:off x="1827350" y="0"/>
            <a:ext cx="10364649" cy="280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801325"/>
            <a:ext cx="6515576" cy="4056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5325" y="2801325"/>
            <a:ext cx="6586673" cy="405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38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97650"/>
            <a:ext cx="12192000" cy="32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434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47450"/>
            <a:ext cx="12192001" cy="251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